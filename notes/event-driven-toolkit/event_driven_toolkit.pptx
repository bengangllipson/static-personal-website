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86" r:id="rId4"/>
    <p:sldId id="287" r:id="rId5"/>
    <p:sldId id="288" r:id="rId6"/>
    <p:sldId id="289" r:id="rId7"/>
    <p:sldId id="291" r:id="rId8"/>
    <p:sldId id="273" r:id="rId9"/>
    <p:sldId id="275" r:id="rId10"/>
    <p:sldId id="268" r:id="rId11"/>
    <p:sldId id="269" r:id="rId12"/>
    <p:sldId id="292" r:id="rId13"/>
    <p:sldId id="294" r:id="rId14"/>
    <p:sldId id="293" r:id="rId15"/>
    <p:sldId id="258" r:id="rId16"/>
    <p:sldId id="261" r:id="rId17"/>
    <p:sldId id="259" r:id="rId18"/>
    <p:sldId id="260" r:id="rId19"/>
    <p:sldId id="264" r:id="rId20"/>
    <p:sldId id="262" r:id="rId21"/>
    <p:sldId id="265" r:id="rId22"/>
    <p:sldId id="266" r:id="rId23"/>
    <p:sldId id="267" r:id="rId24"/>
    <p:sldId id="270" r:id="rId25"/>
    <p:sldId id="271" r:id="rId26"/>
    <p:sldId id="272" r:id="rId27"/>
    <p:sldId id="276" r:id="rId28"/>
    <p:sldId id="277" r:id="rId29"/>
    <p:sldId id="278" r:id="rId30"/>
    <p:sldId id="280" r:id="rId31"/>
    <p:sldId id="282" r:id="rId32"/>
    <p:sldId id="281" r:id="rId33"/>
    <p:sldId id="283" r:id="rId34"/>
    <p:sldId id="284" r:id="rId35"/>
    <p:sldId id="285" r:id="rId36"/>
    <p:sldId id="279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51"/>
    <p:restoredTop sz="94720"/>
  </p:normalViewPr>
  <p:slideViewPr>
    <p:cSldViewPr snapToGrid="0">
      <p:cViewPr varScale="1">
        <p:scale>
          <a:sx n="211" d="100"/>
          <a:sy n="211" d="100"/>
        </p:scale>
        <p:origin x="46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5FF79-CD0D-D22E-D13C-C301354809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183B34-D9C7-6A35-0580-77F31D6E7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E9D24-6EFA-E4F5-3418-5C0E6E835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50C36-80CA-6F4B-A2BA-47D15A241B33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8982B-1715-43CB-06C7-B812529B2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3EFA4-039E-9A3B-DD26-8A6F6B583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00783-E967-8646-9000-E65848B8D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05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C2139-B416-6C1B-488E-10822B734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4E2E4-1432-FB55-A2F9-0391A9BF7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69AC5-71F8-4359-AFFE-04DDD343C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50C36-80CA-6F4B-A2BA-47D15A241B33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6B953-59BF-D70D-60E0-8153D3021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2DCDD-88B9-A453-1A44-E55A6B8A8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00783-E967-8646-9000-E65848B8D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302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37CC5-A5AC-737D-3D03-CEE359474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A44A1-FB2A-C204-DB27-8BBF68A86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BE13A-21E7-55DB-09EE-3AF8C07A7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50C36-80CA-6F4B-A2BA-47D15A241B33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1B09C-78B7-AA60-FEC8-28499E3CF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971E6-6D09-0A88-1FC2-2BC869D7C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00783-E967-8646-9000-E65848B8D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472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00791-2DF5-4832-F5E1-FF525742B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08DE7-AB79-723E-416F-21BFEA3C93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487846-453D-E74E-5E88-CEA3EE51C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25CDB-B8B3-DD9C-864F-307A36F90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50C36-80CA-6F4B-A2BA-47D15A241B33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872963-89EB-270A-5DFB-47B19D484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34CB37-BAC4-B9B9-E587-A052219D3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00783-E967-8646-9000-E65848B8D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398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08DD9-B064-7191-0DEE-6B0C94EA7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DD4946-FDE4-48A3-D39D-F91F4F60B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9532DF-8605-E9D4-AA39-FFE941C63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00B850-C2F7-3EE6-1E96-3ACC9BC949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8DF8E9-53DB-7190-BA09-D1B3E69247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E193FC-C3A6-D711-BE5B-997585E2F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50C36-80CA-6F4B-A2BA-47D15A241B33}" type="datetimeFigureOut">
              <a:rPr lang="en-US" smtClean="0"/>
              <a:t>3/7/26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24A29F-8015-42BE-3D79-FD8903B47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63AE53-CAF9-75E0-BC5E-C6CA108FC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00783-E967-8646-9000-E65848B8D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282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9BA1E-0AE0-D2CB-52A4-1EFB276AA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9F108B-8999-CC35-4C68-617C1917E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50C36-80CA-6F4B-A2BA-47D15A241B33}" type="datetimeFigureOut">
              <a:rPr lang="en-US" smtClean="0"/>
              <a:t>3/7/26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ADCF9E-215E-156F-4425-375AFD3EA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965F5-DF29-D89F-46C3-E1D4C069F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00783-E967-8646-9000-E65848B8D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250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78E0F3-D1DD-807B-D414-EE2149777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50C36-80CA-6F4B-A2BA-47D15A241B33}" type="datetimeFigureOut">
              <a:rPr lang="en-US" smtClean="0"/>
              <a:t>3/7/26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1D8F0D-1C50-1CC9-26D9-CF95B90F5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F06F9-D39D-3CAE-8295-87B8E96A0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00783-E967-8646-9000-E65848B8D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955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992C9-88CB-1464-EC7C-E00CB1D49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2AFAF-6803-2CB3-BF2D-6BD6D5E6A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875A9B-EBF9-F55D-AC0B-B1781C86C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B9EBE-3BE8-62CD-000B-4E93A4F21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50C36-80CA-6F4B-A2BA-47D15A241B33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14798-E42E-A238-7317-AB9007366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FDF3B-8F56-0332-61C9-124EC879A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00783-E967-8646-9000-E65848B8D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403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68254-C64C-43DF-32D1-29DD3AD24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18E281-6F37-B46C-9CE6-2F07FABD64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9B865-B995-6E93-2E1D-258F1C663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F917AA-F69F-088B-5236-4CE930798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50C36-80CA-6F4B-A2BA-47D15A241B33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E4942-B91F-38F0-09E6-F6ED94D9A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09023-51DB-AF46-9EC3-0795972A2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00783-E967-8646-9000-E65848B8D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205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B5FAC-C4FB-7844-2F02-907564E39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0C39F5-CAC0-2346-BD4A-F24DE2BDF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D9C5D-AD9E-7608-2973-84AC9EC37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50C36-80CA-6F4B-A2BA-47D15A241B33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365F4-4267-CFCF-6CFA-9814F6D98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2A090-2F92-B91C-2773-222BA5CDE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00783-E967-8646-9000-E65848B8D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231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51967E-F387-0908-A3A4-A52C90C664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819A20-8DC8-E8FE-7881-E2F2CBB33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D826D-2C41-3DE3-F45B-D2D49A9A3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50C36-80CA-6F4B-A2BA-47D15A241B33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3A902-5C14-526C-C25C-7C8A3C4A8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FF617-B220-7A2E-E558-4091B895D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00783-E967-8646-9000-E65848B8D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282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91A928-1BF4-C1FB-7532-1B0A281D9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B7EE2-D577-0CE4-293A-7027138AC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47D8B-AD2D-4A9D-69B0-DEDFE5CDB3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B50C36-80CA-6F4B-A2BA-47D15A241B33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482D5-644D-87F8-0B03-7121951850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9DDCE-DFBF-1B0B-4990-AB0E4FEFD8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100783-E967-8646-9000-E65848B8D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19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hyperlink" Target="https://medium.com/@chetanshingare2991/kotlin-flows-a-complete-guide-to-asynchronous-streams-in-android-e790a6a9e116" TargetMode="External"/><Relationship Id="rId13" Type="http://schemas.openxmlformats.org/officeDocument/2006/relationships/hyperlink" Target="https://www.naleid.com/2023/07/30/understanding-kafka-compaction.html" TargetMode="External"/><Relationship Id="rId3" Type="http://schemas.openxmlformats.org/officeDocument/2006/relationships/hyperlink" Target="https://www.naleid.com/2021/05/02/kafka-topic-partitioning-replication.html" TargetMode="External"/><Relationship Id="rId7" Type="http://schemas.openxmlformats.org/officeDocument/2006/relationships/hyperlink" Target="https://github.com/bengangllipson/pulse" TargetMode="External"/><Relationship Id="rId12" Type="http://schemas.openxmlformats.org/officeDocument/2006/relationships/hyperlink" Target="https://www.ibm.com/think/topics/data-provenance" TargetMode="External"/><Relationship Id="rId2" Type="http://schemas.openxmlformats.org/officeDocument/2006/relationships/hyperlink" Target="https://www.confluent.io/learn/kafka-partition-key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dis.io/compare/redis-enterprise-and-kafka/" TargetMode="External"/><Relationship Id="rId11" Type="http://schemas.openxmlformats.org/officeDocument/2006/relationships/hyperlink" Target="https://docs.confluent.io/platform/current/schema-registry/schema-validation.html#enabling-sv-on-a-topic-from-the-confluent-cli" TargetMode="External"/><Relationship Id="rId5" Type="http://schemas.openxmlformats.org/officeDocument/2006/relationships/hyperlink" Target="https://developer.confluent.io/courses/event-design/fact-vs-delta-events/" TargetMode="External"/><Relationship Id="rId10" Type="http://schemas.openxmlformats.org/officeDocument/2006/relationships/hyperlink" Target="https://www.confluent.io/blog/apache-kafka-message-compression/" TargetMode="External"/><Relationship Id="rId4" Type="http://schemas.openxmlformats.org/officeDocument/2006/relationships/hyperlink" Target="https://www.confluent.io/blog/okay-store-data-apache-kafka/" TargetMode="External"/><Relationship Id="rId9" Type="http://schemas.openxmlformats.org/officeDocument/2006/relationships/hyperlink" Target="https://lmax-exchange.github.io/disrupto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3A31-E5D2-3EF0-C801-C9AE87C204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/>
                <a:cs typeface="Arial"/>
              </a:rPr>
              <a:t>A Toolkit for High Performance Event Driven Systems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456AE-6821-78D7-9D2E-77E3968C43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Ben Gangl-Lipson</a:t>
            </a:r>
          </a:p>
        </p:txBody>
      </p:sp>
    </p:spTree>
    <p:extLst>
      <p:ext uri="{BB962C8B-B14F-4D97-AF65-F5344CB8AC3E}">
        <p14:creationId xmlns:p14="http://schemas.microsoft.com/office/powerpoint/2010/main" val="3131615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B54E5-2219-2F10-4FCD-8AF3E9B28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E0DE4-AD8E-64FE-BEB1-0BED5206A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marL="514350" indent="-514350">
              <a:buAutoNum type="arabicPeriod"/>
            </a:pPr>
            <a:r>
              <a:rPr lang="en-US" dirty="0"/>
              <a:t>Schema Validation</a:t>
            </a:r>
          </a:p>
          <a:p>
            <a:pPr marL="514350" indent="-514350">
              <a:buAutoNum type="arabicPeriod"/>
            </a:pPr>
            <a:r>
              <a:rPr lang="en-US" dirty="0"/>
              <a:t>Provenance</a:t>
            </a:r>
          </a:p>
          <a:p>
            <a:pPr marL="514350" indent="-514350">
              <a:buAutoNum type="arabicPeriod"/>
            </a:pPr>
            <a:r>
              <a:rPr lang="en-US" dirty="0"/>
              <a:t>Fact Events</a:t>
            </a:r>
          </a:p>
          <a:p>
            <a:pPr marL="514350" indent="-514350">
              <a:buAutoNum type="arabicPeriod"/>
            </a:pPr>
            <a:r>
              <a:rPr lang="en-US" dirty="0"/>
              <a:t>Hashing</a:t>
            </a:r>
          </a:p>
          <a:p>
            <a:pPr marL="514350" indent="-514350">
              <a:buAutoNum type="arabicPeriod"/>
            </a:pPr>
            <a:r>
              <a:rPr lang="en-US" dirty="0"/>
              <a:t>Compaction</a:t>
            </a:r>
          </a:p>
          <a:p>
            <a:pPr marL="514350" indent="-514350">
              <a:buAutoNum type="arabicPeriod"/>
            </a:pPr>
            <a:r>
              <a:rPr lang="en-US" dirty="0"/>
              <a:t>Batching and Timeouts</a:t>
            </a:r>
          </a:p>
          <a:p>
            <a:pPr marL="514350" indent="-514350">
              <a:buAutoNum type="arabicPeriod"/>
            </a:pPr>
            <a:r>
              <a:rPr lang="en-US" dirty="0"/>
              <a:t>Deduplication</a:t>
            </a:r>
          </a:p>
          <a:p>
            <a:pPr marL="514350" indent="-514350">
              <a:buAutoNum type="arabicPeriod"/>
            </a:pPr>
            <a:r>
              <a:rPr lang="en-US" dirty="0"/>
              <a:t>Fresh Filtering</a:t>
            </a:r>
          </a:p>
          <a:p>
            <a:pPr marL="514350" indent="-514350">
              <a:buAutoNum type="arabicPeriod"/>
            </a:pPr>
            <a:r>
              <a:rPr lang="en-US" dirty="0"/>
              <a:t>Draining</a:t>
            </a:r>
          </a:p>
          <a:p>
            <a:pPr marL="514350" indent="-514350">
              <a:buAutoNum type="arabicPeriod"/>
            </a:pPr>
            <a:r>
              <a:rPr lang="en-US" dirty="0"/>
              <a:t>Caching</a:t>
            </a:r>
          </a:p>
          <a:p>
            <a:pPr marL="514350" indent="-514350">
              <a:buAutoNum type="arabicPeriod"/>
            </a:pPr>
            <a:r>
              <a:rPr lang="en-US" dirty="0"/>
              <a:t>Concurrency</a:t>
            </a:r>
          </a:p>
          <a:p>
            <a:pPr marL="514350" indent="-514350">
              <a:buAutoNum type="arabicPeriod"/>
            </a:pPr>
            <a:r>
              <a:rPr lang="en-US" dirty="0"/>
              <a:t>Compression</a:t>
            </a:r>
          </a:p>
        </p:txBody>
      </p:sp>
    </p:spTree>
    <p:extLst>
      <p:ext uri="{BB962C8B-B14F-4D97-AF65-F5344CB8AC3E}">
        <p14:creationId xmlns:p14="http://schemas.microsoft.com/office/powerpoint/2010/main" val="3380481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A07D0-B48B-A44E-7328-E83295018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B3733-5712-F634-B886-AD872538A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 strict typing into Kafka</a:t>
            </a:r>
          </a:p>
          <a:p>
            <a:r>
              <a:rPr lang="en-US" dirty="0"/>
              <a:t>Typically uses an external schema registry</a:t>
            </a:r>
          </a:p>
          <a:p>
            <a:r>
              <a:rPr lang="en-US" dirty="0"/>
              <a:t>Serialization and deserialization via schema ID</a:t>
            </a:r>
          </a:p>
          <a:p>
            <a:r>
              <a:rPr lang="en-US" dirty="0"/>
              <a:t>Key and value are separate validations</a:t>
            </a:r>
          </a:p>
          <a:p>
            <a:r>
              <a:rPr lang="en-US" dirty="0"/>
              <a:t>Broker schema validation vs producer schema validation</a:t>
            </a:r>
          </a:p>
        </p:txBody>
      </p:sp>
    </p:spTree>
    <p:extLst>
      <p:ext uri="{BB962C8B-B14F-4D97-AF65-F5344CB8AC3E}">
        <p14:creationId xmlns:p14="http://schemas.microsoft.com/office/powerpoint/2010/main" val="908702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5A3BD-5456-2A03-AB64-F7C4C2D21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 Validation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B41B7D-CEFB-E337-D785-285FEDA57237}"/>
              </a:ext>
            </a:extLst>
          </p:cNvPr>
          <p:cNvSpPr txBox="1">
            <a:spLocks/>
          </p:cNvSpPr>
          <p:nvPr/>
        </p:nvSpPr>
        <p:spPr>
          <a:xfrm>
            <a:off x="838200" y="1687403"/>
            <a:ext cx="4996355" cy="2772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u="sng" dirty="0"/>
              <a:t>Benefits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Strong typing and contracts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Safe version control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Better observability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Strong documentation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341D70-53BB-89B7-1680-2D5DBDCE1F86}"/>
              </a:ext>
            </a:extLst>
          </p:cNvPr>
          <p:cNvSpPr txBox="1">
            <a:spLocks/>
          </p:cNvSpPr>
          <p:nvPr/>
        </p:nvSpPr>
        <p:spPr>
          <a:xfrm>
            <a:off x="5834555" y="1687403"/>
            <a:ext cx="4996355" cy="2772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u="sng" dirty="0"/>
              <a:t>Drawbacks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Operational complexity running a registry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Slower prototyping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Conventions must be agreed upon</a:t>
            </a:r>
          </a:p>
        </p:txBody>
      </p:sp>
    </p:spTree>
    <p:extLst>
      <p:ext uri="{BB962C8B-B14F-4D97-AF65-F5344CB8AC3E}">
        <p14:creationId xmlns:p14="http://schemas.microsoft.com/office/powerpoint/2010/main" val="1916938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9EF8-F7B6-99BB-9869-90D00EE12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 Validation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152CEB-0491-D31B-5587-44B92231AF2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When and how can I use it?</a:t>
            </a:r>
            <a:br>
              <a:rPr lang="en-US" dirty="0"/>
            </a:br>
            <a:r>
              <a:rPr lang="en-US" sz="1800" u="sng" dirty="0"/>
              <a:t>When?</a:t>
            </a:r>
          </a:p>
          <a:p>
            <a:pPr>
              <a:buFontTx/>
              <a:buChar char="-"/>
            </a:pPr>
            <a:r>
              <a:rPr lang="en-US" sz="1800" dirty="0"/>
              <a:t>Almost always</a:t>
            </a:r>
          </a:p>
          <a:p>
            <a:pPr>
              <a:buFontTx/>
              <a:buChar char="-"/>
            </a:pPr>
            <a:r>
              <a:rPr lang="en-US" sz="1800" dirty="0"/>
              <a:t>Topics are consumed publicly across the enterprise</a:t>
            </a:r>
          </a:p>
          <a:p>
            <a:pPr marL="0" indent="0">
              <a:buNone/>
            </a:pPr>
            <a:r>
              <a:rPr lang="en-US" sz="1800" u="sng" dirty="0"/>
              <a:t>How?</a:t>
            </a:r>
          </a:p>
          <a:p>
            <a:pPr>
              <a:buFontTx/>
              <a:buChar char="-"/>
            </a:pPr>
            <a:r>
              <a:rPr lang="en-US" sz="1800" dirty="0"/>
              <a:t>Schema registry like Confluent Schema Registry</a:t>
            </a:r>
          </a:p>
          <a:p>
            <a:pPr>
              <a:buFontTx/>
              <a:buChar char="-"/>
            </a:pPr>
            <a:r>
              <a:rPr lang="en-US" sz="1800" dirty="0"/>
              <a:t>Serialization format like Avro, </a:t>
            </a:r>
            <a:r>
              <a:rPr lang="en-US" sz="1800" dirty="0" err="1"/>
              <a:t>Protobuf</a:t>
            </a:r>
            <a:r>
              <a:rPr lang="en-US" sz="1800" dirty="0"/>
              <a:t>, or JSON</a:t>
            </a:r>
          </a:p>
          <a:p>
            <a:pPr>
              <a:buFontTx/>
              <a:buChar char="-"/>
            </a:pP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key.serializer</a:t>
            </a:r>
            <a:r>
              <a:rPr lang="en-US" sz="1800" dirty="0"/>
              <a:t> and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value.serializer</a:t>
            </a:r>
            <a:r>
              <a:rPr lang="en-US" sz="1800" dirty="0"/>
              <a:t> config values</a:t>
            </a:r>
          </a:p>
          <a:p>
            <a:pPr>
              <a:buFontTx/>
              <a:buChar char="-"/>
            </a:pP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schema.registry.url</a:t>
            </a:r>
            <a:r>
              <a:rPr lang="en-US" sz="1800" dirty="0"/>
              <a:t> for producer validation and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confluent.value.schema.validation</a:t>
            </a:r>
            <a:r>
              <a:rPr lang="en-US" sz="1800" dirty="0"/>
              <a:t> for broker validation</a:t>
            </a:r>
          </a:p>
          <a:p>
            <a:pPr>
              <a:buFontTx/>
              <a:buChar char="-"/>
            </a:pPr>
            <a:endParaRPr lang="en-US" sz="1800" dirty="0"/>
          </a:p>
        </p:txBody>
      </p:sp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98EC7A0-6CAF-6BD6-C16E-A4351695D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561" y="426668"/>
            <a:ext cx="4493753" cy="624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943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AF0B1-179D-99B2-5DB5-A5DD97C80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Provenance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A5F09-1DAD-D227-351F-06860A17D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Metadata attached to an event to identify it across systems</a:t>
            </a:r>
          </a:p>
          <a:p>
            <a:r>
              <a:rPr lang="en-US" dirty="0"/>
              <a:t>Troubleshooting and explaining data</a:t>
            </a:r>
          </a:p>
          <a:p>
            <a:r>
              <a:rPr lang="en-US" dirty="0"/>
              <a:t>Typically set in the headers</a:t>
            </a:r>
          </a:p>
          <a:p>
            <a:r>
              <a:rPr lang="en-US" dirty="0"/>
              <a:t>All inputs get set on the output</a:t>
            </a:r>
          </a:p>
          <a:p>
            <a:r>
              <a:rPr lang="en-US" dirty="0"/>
              <a:t>Very few drawbacks if any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545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A7122-B69B-1455-657C-42F5A1BEA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Provenance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95748D8-2644-6452-D6EE-D5B8E073BB3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When and how can I use it?</a:t>
            </a:r>
            <a:br>
              <a:rPr lang="en-US" dirty="0"/>
            </a:br>
            <a:r>
              <a:rPr lang="en-US" sz="1800" u="sng" dirty="0"/>
              <a:t>When?</a:t>
            </a:r>
          </a:p>
          <a:p>
            <a:pPr>
              <a:buFontTx/>
              <a:buChar char="-"/>
            </a:pPr>
            <a:r>
              <a:rPr lang="en-US" sz="1800" dirty="0"/>
              <a:t>Always set a unique ID to events</a:t>
            </a:r>
          </a:p>
          <a:p>
            <a:pPr>
              <a:buFontTx/>
              <a:buChar char="-"/>
            </a:pPr>
            <a:r>
              <a:rPr lang="en-US" sz="1800" dirty="0"/>
              <a:t>Forward those same IDs when filtering data</a:t>
            </a:r>
          </a:p>
          <a:p>
            <a:pPr>
              <a:buFontTx/>
              <a:buChar char="-"/>
            </a:pPr>
            <a:r>
              <a:rPr lang="en-US" sz="1800" dirty="0"/>
              <a:t>Add those unique IDs to the body when transforming an input topic or aggregating multiple input topics</a:t>
            </a:r>
          </a:p>
          <a:p>
            <a:pPr marL="0" indent="0">
              <a:buNone/>
            </a:pPr>
            <a:r>
              <a:rPr lang="en-US" sz="1800" u="sng" dirty="0"/>
              <a:t>How?</a:t>
            </a:r>
          </a:p>
          <a:p>
            <a:pPr>
              <a:buFontTx/>
              <a:buChar char="-"/>
            </a:pPr>
            <a:r>
              <a:rPr lang="en-US" sz="1800" dirty="0"/>
              <a:t>Kafka headers</a:t>
            </a:r>
          </a:p>
          <a:p>
            <a:pPr>
              <a:buFontTx/>
              <a:buChar char="-"/>
            </a:pPr>
            <a:r>
              <a:rPr lang="en-US" sz="1800" dirty="0"/>
              <a:t>Random UUIDs with timestamps and source topic names</a:t>
            </a:r>
          </a:p>
        </p:txBody>
      </p:sp>
      <p:pic>
        <p:nvPicPr>
          <p:cNvPr id="6" name="Picture 5" descr="A computer screen shot of a black screen&#10;&#10;AI-generated content may be incorrect.">
            <a:extLst>
              <a:ext uri="{FF2B5EF4-FFF2-40B4-BE49-F238E27FC236}">
                <a16:creationId xmlns:a16="http://schemas.microsoft.com/office/drawing/2014/main" id="{60BBFAB6-D0B5-C588-E00B-3712F421A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400" y="1797844"/>
            <a:ext cx="3708400" cy="1257300"/>
          </a:xfrm>
          <a:prstGeom prst="rect">
            <a:avLst/>
          </a:prstGeom>
        </p:spPr>
      </p:pic>
      <p:pic>
        <p:nvPicPr>
          <p:cNvPr id="8" name="Picture 7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6DF5B6C8-E8A5-AAA9-ED82-ECDB6E872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3162300"/>
            <a:ext cx="5295900" cy="990600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ECD772-F0BD-C539-9F2C-D1BC47712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260056"/>
            <a:ext cx="57912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91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78ECA-C75F-0862-D236-1820ECD9F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F4585-0F2A-A02D-5A58-08EB58E7A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Alternative to deltas</a:t>
            </a:r>
          </a:p>
          <a:p>
            <a:r>
              <a:rPr lang="en-US" dirty="0"/>
              <a:t>Includes the entire scope of the domain model on every message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A860B30-F4B3-B551-63C4-036D78EABFEB}"/>
              </a:ext>
            </a:extLst>
          </p:cNvPr>
          <p:cNvSpPr txBox="1">
            <a:spLocks/>
          </p:cNvSpPr>
          <p:nvPr/>
        </p:nvSpPr>
        <p:spPr>
          <a:xfrm>
            <a:off x="838200" y="3068087"/>
            <a:ext cx="4996355" cy="2772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u="sng" dirty="0"/>
              <a:t>Benefits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No state management required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sz="1400" dirty="0"/>
              <a:t>Fewer bugs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Easy for consumers to publish fewer events via batching changes into one fact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Observability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sz="1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84C9CCB-FB63-4229-2812-55C6113A7AAA}"/>
              </a:ext>
            </a:extLst>
          </p:cNvPr>
          <p:cNvSpPr txBox="1">
            <a:spLocks/>
          </p:cNvSpPr>
          <p:nvPr/>
        </p:nvSpPr>
        <p:spPr>
          <a:xfrm>
            <a:off x="5834555" y="3068086"/>
            <a:ext cx="4996355" cy="2772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u="sng" dirty="0"/>
              <a:t>Drawbacks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Individual event size is larger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Slower publishing if batching, more large events if not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Loss of intent</a:t>
            </a:r>
          </a:p>
        </p:txBody>
      </p:sp>
    </p:spTree>
    <p:extLst>
      <p:ext uri="{BB962C8B-B14F-4D97-AF65-F5344CB8AC3E}">
        <p14:creationId xmlns:p14="http://schemas.microsoft.com/office/powerpoint/2010/main" val="181927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6986C-062C-49D1-D527-6CCB56117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 Events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1C467A7-B8D0-BBDD-28BD-56C8FA97105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When and how can I use it?</a:t>
            </a:r>
            <a:br>
              <a:rPr lang="en-US" dirty="0"/>
            </a:br>
            <a:r>
              <a:rPr lang="en-US" sz="1800" u="sng" dirty="0"/>
              <a:t>When?</a:t>
            </a:r>
          </a:p>
          <a:p>
            <a:pPr>
              <a:buFontTx/>
              <a:buChar char="-"/>
            </a:pPr>
            <a:r>
              <a:rPr lang="en-US" sz="1800" dirty="0"/>
              <a:t>Any time you want to know the current state of a domain</a:t>
            </a:r>
          </a:p>
          <a:p>
            <a:pPr>
              <a:buFontTx/>
              <a:buChar char="-"/>
            </a:pPr>
            <a:r>
              <a:rPr lang="en-US" sz="1800" dirty="0"/>
              <a:t>Almost always, exception is when you only want to notify consumers of very specific events (e.g. “low inventory alert”)</a:t>
            </a:r>
          </a:p>
          <a:p>
            <a:pPr marL="0" indent="0">
              <a:buNone/>
            </a:pPr>
            <a:r>
              <a:rPr lang="en-US" sz="1800" u="sng" dirty="0"/>
              <a:t>How?</a:t>
            </a:r>
          </a:p>
          <a:p>
            <a:pPr>
              <a:buFontTx/>
              <a:buChar char="-"/>
            </a:pPr>
            <a:r>
              <a:rPr lang="en-US" sz="1800" dirty="0"/>
              <a:t>Publish the entire state of your domain instead of deltas</a:t>
            </a:r>
            <a:endParaRPr lang="en-US" sz="1800" dirty="0">
              <a:cs typeface="Consolas" panose="020B0609020204030204" pitchFamily="49" charset="0"/>
            </a:endParaRPr>
          </a:p>
        </p:txBody>
      </p:sp>
      <p:pic>
        <p:nvPicPr>
          <p:cNvPr id="6" name="Picture 5" descr="A chess board with chess pieces and chess pieces&#10;&#10;AI-generated content may be incorrect.">
            <a:extLst>
              <a:ext uri="{FF2B5EF4-FFF2-40B4-BE49-F238E27FC236}">
                <a16:creationId xmlns:a16="http://schemas.microsoft.com/office/drawing/2014/main" id="{9F03F477-AAAC-C7CA-D6F8-E68A6AC4D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881" y="3787235"/>
            <a:ext cx="3678038" cy="2301401"/>
          </a:xfrm>
          <a:prstGeom prst="rect">
            <a:avLst/>
          </a:prstGeom>
        </p:spPr>
      </p:pic>
      <p:pic>
        <p:nvPicPr>
          <p:cNvPr id="8" name="Picture 7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1F9983B0-D3D9-3AE8-83A3-7B7295191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90688"/>
            <a:ext cx="5257800" cy="2096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967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ED2DD-A9AD-5D77-90DE-55B5F5328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A01BD-7617-18A1-C334-0808F897A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which partition a message goes to via hash function and modulo</a:t>
            </a:r>
          </a:p>
          <a:p>
            <a:r>
              <a:rPr lang="en-US" dirty="0"/>
              <a:t>Default is to use the key</a:t>
            </a:r>
          </a:p>
          <a:p>
            <a:r>
              <a:rPr lang="en-US" dirty="0"/>
              <a:t>Can define a custom partitioning strategy by hashing on whatever values you want</a:t>
            </a:r>
          </a:p>
        </p:txBody>
      </p:sp>
    </p:spTree>
    <p:extLst>
      <p:ext uri="{BB962C8B-B14F-4D97-AF65-F5344CB8AC3E}">
        <p14:creationId xmlns:p14="http://schemas.microsoft.com/office/powerpoint/2010/main" val="1798025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2F1D7-A440-7128-3664-D5EF48689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5EBB8-8D73-4349-1A2D-5FF875566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When and how can I use it?</a:t>
            </a:r>
            <a:br>
              <a:rPr lang="en-US" dirty="0"/>
            </a:br>
            <a:r>
              <a:rPr lang="en-US" sz="1800" u="sng" dirty="0"/>
              <a:t>When?</a:t>
            </a:r>
          </a:p>
          <a:p>
            <a:pPr>
              <a:buFontTx/>
              <a:buChar char="-"/>
            </a:pPr>
            <a:r>
              <a:rPr lang="en-US" sz="1800" dirty="0"/>
              <a:t>Rarely</a:t>
            </a:r>
          </a:p>
          <a:p>
            <a:pPr>
              <a:buFontTx/>
              <a:buChar char="-"/>
            </a:pPr>
            <a:r>
              <a:rPr lang="en-US" sz="1800" dirty="0"/>
              <a:t>Grouping for deduping or fresh filtering by something other than the key, like a subset of a composite key</a:t>
            </a:r>
          </a:p>
          <a:p>
            <a:pPr marL="0" indent="0">
              <a:buNone/>
            </a:pPr>
            <a:r>
              <a:rPr lang="en-US" sz="1800" u="sng" dirty="0"/>
              <a:t>How?</a:t>
            </a:r>
          </a:p>
          <a:p>
            <a:pPr>
              <a:buFontTx/>
              <a:buChar char="-"/>
            </a:pPr>
            <a:r>
              <a:rPr lang="en-US" sz="1800" dirty="0"/>
              <a:t>Class that implements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Partitioner</a:t>
            </a:r>
            <a:r>
              <a:rPr lang="en-US" sz="1800" dirty="0">
                <a:cs typeface="Consolas" panose="020B0609020204030204" pitchFamily="49" charset="0"/>
              </a:rPr>
              <a:t> and overrides the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partition()</a:t>
            </a:r>
            <a:r>
              <a:rPr lang="en-US" sz="1800" dirty="0">
                <a:cs typeface="Consolas" panose="020B0609020204030204" pitchFamily="49" charset="0"/>
              </a:rPr>
              <a:t> method</a:t>
            </a:r>
          </a:p>
          <a:p>
            <a:pPr>
              <a:buFontTx/>
              <a:buChar char="-"/>
            </a:pP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ProducerConfig.PARTITIONER_CLASS_CONFIG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YourCustomPartitioner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7EDAC6-92DA-0209-7E62-B5E67BD15E80}"/>
              </a:ext>
            </a:extLst>
          </p:cNvPr>
          <p:cNvSpPr txBox="1"/>
          <p:nvPr/>
        </p:nvSpPr>
        <p:spPr>
          <a:xfrm>
            <a:off x="5242560" y="21234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758B46C1-8B14-E6E6-9A51-0E8FBCE7B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920" y="2152106"/>
            <a:ext cx="5257800" cy="255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420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28701-8662-40C4-3F1C-494CA26A6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76BE4-515E-EE94-0F57-1B8A35E14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type of cleanup policy</a:t>
            </a:r>
          </a:p>
          <a:p>
            <a:r>
              <a:rPr lang="en-US" dirty="0"/>
              <a:t>Alternative to typical “delete” retention</a:t>
            </a:r>
          </a:p>
          <a:p>
            <a:r>
              <a:rPr lang="en-US" dirty="0"/>
              <a:t>Can be combined with “delete” retention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171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93944-8940-B45F-88DE-AF2F4D523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Compaction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4F89C0-1D83-36DA-F671-02336611C58D}"/>
              </a:ext>
            </a:extLst>
          </p:cNvPr>
          <p:cNvSpPr txBox="1">
            <a:spLocks/>
          </p:cNvSpPr>
          <p:nvPr/>
        </p:nvSpPr>
        <p:spPr>
          <a:xfrm>
            <a:off x="838200" y="1687403"/>
            <a:ext cx="4996355" cy="2772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u="sng" dirty="0"/>
              <a:t>Benefits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Latest state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Fast consumption and recovery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Reduced storage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sz="1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772829F-0492-BF34-AA67-CBE19D29F5C9}"/>
              </a:ext>
            </a:extLst>
          </p:cNvPr>
          <p:cNvSpPr txBox="1">
            <a:spLocks/>
          </p:cNvSpPr>
          <p:nvPr/>
        </p:nvSpPr>
        <p:spPr>
          <a:xfrm>
            <a:off x="5834555" y="1687403"/>
            <a:ext cx="4996355" cy="2772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u="sng" dirty="0"/>
              <a:t>Drawbacks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Eventually consistent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No historical audit trail or replay ability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More CPU and memory usage on the broker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Careful key design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Offline consumers can miss tombstones</a:t>
            </a:r>
          </a:p>
        </p:txBody>
      </p:sp>
    </p:spTree>
    <p:extLst>
      <p:ext uri="{BB962C8B-B14F-4D97-AF65-F5344CB8AC3E}">
        <p14:creationId xmlns:p14="http://schemas.microsoft.com/office/powerpoint/2010/main" val="1569599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3BB77-5DB5-132F-778E-3805FC8E3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Compaction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13B59A1-1C75-CB09-112C-CF760AC93C9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When and how can I use it?</a:t>
            </a:r>
            <a:br>
              <a:rPr lang="en-US" dirty="0"/>
            </a:br>
            <a:r>
              <a:rPr lang="en-US" sz="1800" u="sng" dirty="0"/>
              <a:t>When?</a:t>
            </a:r>
          </a:p>
          <a:p>
            <a:pPr>
              <a:buFontTx/>
              <a:buChar char="-"/>
            </a:pPr>
            <a:r>
              <a:rPr lang="en-US" sz="1800" dirty="0"/>
              <a:t>When consumers only care about the latest value for a key (e.g. fact topics)</a:t>
            </a:r>
          </a:p>
          <a:p>
            <a:pPr>
              <a:buFontTx/>
              <a:buChar char="-"/>
            </a:pPr>
            <a:r>
              <a:rPr lang="en-US" sz="1800" dirty="0"/>
              <a:t>Finite unique keys (10s to 100s of millions limit)</a:t>
            </a:r>
          </a:p>
          <a:p>
            <a:pPr>
              <a:buFontTx/>
              <a:buChar char="-"/>
            </a:pPr>
            <a:r>
              <a:rPr lang="en-US" sz="1800" dirty="0"/>
              <a:t>Compact + delete if values are time-sensitive and can expire</a:t>
            </a:r>
          </a:p>
          <a:p>
            <a:pPr lvl="1">
              <a:buFontTx/>
              <a:buChar char="-"/>
            </a:pPr>
            <a:r>
              <a:rPr lang="en-US" sz="1400" dirty="0"/>
              <a:t>You can set up a periodic repopulation if needed</a:t>
            </a:r>
          </a:p>
          <a:p>
            <a:pPr marL="0" indent="0">
              <a:buNone/>
            </a:pPr>
            <a:r>
              <a:rPr lang="en-US" sz="1800" u="sng" dirty="0"/>
              <a:t>How?</a:t>
            </a:r>
          </a:p>
          <a:p>
            <a:pPr>
              <a:buFontTx/>
              <a:buChar char="-"/>
            </a:pP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cleanup.policy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= compact</a:t>
            </a:r>
            <a:r>
              <a:rPr lang="en-US" sz="1800" dirty="0"/>
              <a:t> config value</a:t>
            </a:r>
          </a:p>
          <a:p>
            <a:pPr>
              <a:buFontTx/>
              <a:buChar char="-"/>
            </a:pPr>
            <a:r>
              <a:rPr lang="en-US" sz="1800" dirty="0"/>
              <a:t>Tweak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max.compaction.lag.ms</a:t>
            </a:r>
            <a:r>
              <a:rPr lang="en-US" sz="1800" dirty="0"/>
              <a:t> and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segment.ms</a:t>
            </a:r>
            <a:r>
              <a:rPr lang="en-US" sz="1800" dirty="0"/>
              <a:t> to run often but not too often (24 hours and 12 hours respectively)</a:t>
            </a:r>
          </a:p>
          <a:p>
            <a:pPr>
              <a:buFontTx/>
              <a:buChar char="-"/>
            </a:pPr>
            <a:r>
              <a:rPr lang="en-US" sz="1800" dirty="0"/>
              <a:t>Don’t tweak </a:t>
            </a:r>
            <a:r>
              <a:rPr lang="en-US" sz="1800" dirty="0" err="1"/>
              <a:t>min.cleanable.dirty.ratio</a:t>
            </a:r>
            <a:r>
              <a:rPr lang="en-US" sz="1800" dirty="0"/>
              <a:t> because it causes compaction to run too often</a:t>
            </a:r>
          </a:p>
          <a:p>
            <a:pPr>
              <a:buFontTx/>
              <a:buChar char="-"/>
            </a:pPr>
            <a:r>
              <a:rPr lang="en-US" sz="1800" dirty="0"/>
              <a:t>Send tombstones (null value) to delete messages</a:t>
            </a:r>
          </a:p>
        </p:txBody>
      </p:sp>
    </p:spTree>
    <p:extLst>
      <p:ext uri="{BB962C8B-B14F-4D97-AF65-F5344CB8AC3E}">
        <p14:creationId xmlns:p14="http://schemas.microsoft.com/office/powerpoint/2010/main" val="3533012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4A0D2-76A0-A607-EC3B-B704F954B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6304"/>
          </a:xfrm>
        </p:spPr>
        <p:txBody>
          <a:bodyPr/>
          <a:lstStyle/>
          <a:p>
            <a:r>
              <a:rPr lang="en-US" dirty="0"/>
              <a:t>Batching and Timeouts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EB5B89-3B79-3279-450B-DBB941DA0C70}"/>
              </a:ext>
            </a:extLst>
          </p:cNvPr>
          <p:cNvSpPr txBox="1">
            <a:spLocks/>
          </p:cNvSpPr>
          <p:nvPr/>
        </p:nvSpPr>
        <p:spPr>
          <a:xfrm>
            <a:off x="838200" y="1585590"/>
            <a:ext cx="4996355" cy="4551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u="sng" dirty="0"/>
              <a:t>Batching while consuming</a:t>
            </a:r>
          </a:p>
          <a:p>
            <a:pPr>
              <a:buFontTx/>
              <a:buChar char="-"/>
            </a:pPr>
            <a:r>
              <a:rPr lang="en-US" sz="1800" dirty="0"/>
              <a:t>Consume data within a bounded timeframe or size</a:t>
            </a:r>
          </a:p>
          <a:p>
            <a:pPr>
              <a:buFontTx/>
              <a:buChar char="-"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List&lt;Message&gt; </a:t>
            </a:r>
            <a:r>
              <a:rPr lang="en-US" sz="1800" dirty="0"/>
              <a:t>instead of a single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endParaRPr lang="en-US" sz="1800" dirty="0"/>
          </a:p>
          <a:p>
            <a:pPr marL="0" indent="0">
              <a:buNone/>
            </a:pP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r>
              <a:rPr lang="en-US" u="sng" dirty="0"/>
              <a:t>Batching while producing</a:t>
            </a:r>
          </a:p>
          <a:p>
            <a:pPr marL="285750" indent="-285750">
              <a:buFontTx/>
              <a:buChar char="-"/>
            </a:pPr>
            <a:r>
              <a:rPr lang="en-US" sz="1800" dirty="0"/>
              <a:t>Publish data within a bounded timeframe or size</a:t>
            </a:r>
          </a:p>
          <a:p>
            <a:pPr marL="285750" indent="-285750">
              <a:buFontTx/>
              <a:buChar char="-"/>
            </a:pPr>
            <a:r>
              <a:rPr lang="en-US" sz="1800" dirty="0"/>
              <a:t>Publish a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List&lt;Message&gt; </a:t>
            </a:r>
            <a:r>
              <a:rPr lang="en-US" sz="1800" dirty="0"/>
              <a:t>instead of a single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73A30BF-5613-BE1D-443C-D3E1EF64E65E}"/>
              </a:ext>
            </a:extLst>
          </p:cNvPr>
          <p:cNvSpPr txBox="1">
            <a:spLocks/>
          </p:cNvSpPr>
          <p:nvPr/>
        </p:nvSpPr>
        <p:spPr>
          <a:xfrm>
            <a:off x="5834555" y="1585590"/>
            <a:ext cx="4996355" cy="2903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u="sng" dirty="0"/>
              <a:t>Timeouts</a:t>
            </a:r>
          </a:p>
          <a:p>
            <a:pPr>
              <a:buFontTx/>
              <a:buChar char="-"/>
            </a:pPr>
            <a:r>
              <a:rPr lang="en-US" sz="1800" dirty="0"/>
              <a:t>Client waits for the broker to respond</a:t>
            </a:r>
          </a:p>
          <a:p>
            <a:pPr>
              <a:buFontTx/>
              <a:buChar char="-"/>
            </a:pPr>
            <a:r>
              <a:rPr lang="en-US" sz="1800" dirty="0"/>
              <a:t>Broker waits for the consumer to respond</a:t>
            </a:r>
          </a:p>
          <a:p>
            <a:pPr>
              <a:buFontTx/>
              <a:buChar char="-"/>
            </a:pPr>
            <a:r>
              <a:rPr lang="en-US" sz="1800" dirty="0"/>
              <a:t>Max amount of time a consumer has to process a message/batch</a:t>
            </a:r>
          </a:p>
        </p:txBody>
      </p:sp>
    </p:spTree>
    <p:extLst>
      <p:ext uri="{BB962C8B-B14F-4D97-AF65-F5344CB8AC3E}">
        <p14:creationId xmlns:p14="http://schemas.microsoft.com/office/powerpoint/2010/main" val="2977828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1563B-AFC3-760E-0E94-3303DAAEB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Batching and Timeouts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A946024-D8E4-9301-F085-35583AB62C37}"/>
              </a:ext>
            </a:extLst>
          </p:cNvPr>
          <p:cNvSpPr txBox="1">
            <a:spLocks/>
          </p:cNvSpPr>
          <p:nvPr/>
        </p:nvSpPr>
        <p:spPr>
          <a:xfrm>
            <a:off x="838200" y="1687403"/>
            <a:ext cx="4996355" cy="2772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u="sng" dirty="0"/>
              <a:t>Benefits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Reduce number of network requests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Increase throughput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Minimize load on the broker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Compression efficiency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A0DBD3-1596-AC38-F3B3-DC4A6657BD38}"/>
              </a:ext>
            </a:extLst>
          </p:cNvPr>
          <p:cNvSpPr txBox="1">
            <a:spLocks/>
          </p:cNvSpPr>
          <p:nvPr/>
        </p:nvSpPr>
        <p:spPr>
          <a:xfrm>
            <a:off x="5834555" y="1687403"/>
            <a:ext cx="5519245" cy="3108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u="sng" dirty="0"/>
              <a:t>Drawbacks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Introduces a small latency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Doesn’t inherently improve the performance of individual message processing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Increases rebalancing</a:t>
            </a:r>
          </a:p>
        </p:txBody>
      </p:sp>
    </p:spTree>
    <p:extLst>
      <p:ext uri="{BB962C8B-B14F-4D97-AF65-F5344CB8AC3E}">
        <p14:creationId xmlns:p14="http://schemas.microsoft.com/office/powerpoint/2010/main" val="3108820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8B6BF-9123-4BA3-059E-8E6DFEB08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Batching and Timeouts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13D89-9B9F-62B0-2102-312261C30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63814" cy="46672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When and how can I use it?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6E95B4D-71B6-E2A9-DF15-539296C13C71}"/>
              </a:ext>
            </a:extLst>
          </p:cNvPr>
          <p:cNvSpPr txBox="1">
            <a:spLocks/>
          </p:cNvSpPr>
          <p:nvPr/>
        </p:nvSpPr>
        <p:spPr>
          <a:xfrm>
            <a:off x="838200" y="2214168"/>
            <a:ext cx="4665381" cy="42787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u="sng" dirty="0"/>
              <a:t>When?</a:t>
            </a:r>
          </a:p>
          <a:p>
            <a:pPr>
              <a:buFontTx/>
              <a:buChar char="-"/>
            </a:pPr>
            <a:r>
              <a:rPr lang="en-US" sz="1200" dirty="0"/>
              <a:t>Almost always</a:t>
            </a:r>
          </a:p>
          <a:p>
            <a:pPr>
              <a:buFontTx/>
              <a:buChar char="-"/>
            </a:pPr>
            <a:r>
              <a:rPr lang="en-US" sz="1200" dirty="0"/>
              <a:t>Exception is extremely low latency requirements where messages must be published or processed </a:t>
            </a:r>
            <a:r>
              <a:rPr lang="en-US" sz="1200" i="1" dirty="0"/>
              <a:t>immediately</a:t>
            </a:r>
            <a:endParaRPr lang="en-US" sz="1200" dirty="0"/>
          </a:p>
          <a:p>
            <a:pPr marL="0" indent="0">
              <a:buNone/>
            </a:pPr>
            <a:r>
              <a:rPr lang="en-US" sz="1200" u="sng" dirty="0"/>
              <a:t>How?</a:t>
            </a:r>
          </a:p>
          <a:p>
            <a:pPr>
              <a:buFontTx/>
              <a:buChar char="-"/>
            </a:pPr>
            <a:r>
              <a:rPr lang="en-US" sz="1200" dirty="0"/>
              <a:t>Producer</a:t>
            </a:r>
          </a:p>
          <a:p>
            <a:pPr lvl="1">
              <a:buFontTx/>
              <a:buChar char="-"/>
            </a:pP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batch.size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buFontTx/>
              <a:buChar char="-"/>
            </a:pP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linger.ms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buFontTx/>
              <a:buChar char="-"/>
            </a:pP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request.timeout.ms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buFontTx/>
              <a:buChar char="-"/>
            </a:pP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delivery.timeout.ms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Char char="-"/>
            </a:pPr>
            <a:r>
              <a:rPr lang="en-US" sz="1200" dirty="0"/>
              <a:t>Consumer</a:t>
            </a:r>
          </a:p>
          <a:p>
            <a:pPr lvl="1">
              <a:buFontTx/>
              <a:buChar char="-"/>
            </a:pP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max.poll.records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buFontTx/>
              <a:buChar char="-"/>
            </a:pP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max.poll.interval.ms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buFontTx/>
              <a:buChar char="-"/>
            </a:pP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fetch.min.bytes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buFontTx/>
              <a:buChar char="-"/>
            </a:pP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fetch.max.wait.ms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buFontTx/>
              <a:buChar char="-"/>
            </a:pP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request.timeout.ms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buFontTx/>
              <a:buChar char="-"/>
            </a:pP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session.timeout.ms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971550" lvl="1" indent="-285750"/>
            <a:endParaRPr lang="en-US" sz="1200" dirty="0"/>
          </a:p>
          <a:p>
            <a:pPr marL="971550" lvl="1" indent="-285750"/>
            <a:endParaRPr lang="en-US" sz="1200" dirty="0"/>
          </a:p>
        </p:txBody>
      </p:sp>
      <p:pic>
        <p:nvPicPr>
          <p:cNvPr id="5" name="Picture Placeholder 17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0BC8697B-993B-946A-4AF1-E198BC9FDD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" r="695"/>
          <a:stretch>
            <a:fillRect/>
          </a:stretch>
        </p:blipFill>
        <p:spPr>
          <a:xfrm>
            <a:off x="5297213" y="2214167"/>
            <a:ext cx="6418061" cy="427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47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C1F7C-85EC-F07B-5769-DD5FC8012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Deduplication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BE881-7AD0-A2B5-AABA-D1109E4DA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/>
              <a:t>Exact duplicate messages</a:t>
            </a:r>
            <a:endParaRPr lang="en-US" dirty="0"/>
          </a:p>
          <a:p>
            <a:pPr>
              <a:buFontTx/>
              <a:buChar char="-"/>
            </a:pPr>
            <a:r>
              <a:rPr lang="en-US" sz="1800" dirty="0"/>
              <a:t>Caused by network interruptions, rebalancing, </a:t>
            </a:r>
            <a:r>
              <a:rPr lang="en-US" sz="1800" dirty="0" err="1"/>
              <a:t>etc</a:t>
            </a:r>
            <a:r>
              <a:rPr lang="en-US" sz="1800" dirty="0"/>
              <a:t>…</a:t>
            </a:r>
          </a:p>
          <a:p>
            <a:pPr>
              <a:buFontTx/>
              <a:buChar char="-"/>
            </a:pPr>
            <a:r>
              <a:rPr lang="en-US" sz="1800" dirty="0">
                <a:cs typeface="Consolas" panose="020B0609020204030204" pitchFamily="49" charset="0"/>
              </a:rPr>
              <a:t>Idempotence in producer and consumer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Multiple different messages in a batch with the same key</a:t>
            </a:r>
          </a:p>
          <a:p>
            <a:pPr>
              <a:buFontTx/>
              <a:buChar char="-"/>
            </a:pPr>
            <a:r>
              <a:rPr lang="en-US" sz="1800" dirty="0"/>
              <a:t>Happens even with log compaction enabled</a:t>
            </a:r>
          </a:p>
          <a:p>
            <a:pPr>
              <a:buFontTx/>
              <a:buChar char="-"/>
            </a:pPr>
            <a:r>
              <a:rPr lang="en-US" sz="1800" dirty="0"/>
              <a:t>Process the latest message only and skip any others</a:t>
            </a:r>
          </a:p>
          <a:p>
            <a:pPr>
              <a:buFontTx/>
              <a:buChar char="-"/>
            </a:pPr>
            <a:r>
              <a:rPr lang="en-US" sz="1800" dirty="0"/>
              <a:t>Much harder when you mix partitions (don’t mix partitions)</a:t>
            </a:r>
          </a:p>
          <a:p>
            <a:pPr>
              <a:buFontTx/>
              <a:buChar char="-"/>
            </a:pPr>
            <a:r>
              <a:rPr lang="en-US" sz="1800" dirty="0"/>
              <a:t>Don’t dedupe tombstones</a:t>
            </a:r>
          </a:p>
        </p:txBody>
      </p:sp>
    </p:spTree>
    <p:extLst>
      <p:ext uri="{BB962C8B-B14F-4D97-AF65-F5344CB8AC3E}">
        <p14:creationId xmlns:p14="http://schemas.microsoft.com/office/powerpoint/2010/main" val="2019224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B1630-7661-DC52-C97B-2DD2AAAAB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Deduplication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719B59-BA2D-2889-2859-CB15DCBE001D}"/>
              </a:ext>
            </a:extLst>
          </p:cNvPr>
          <p:cNvSpPr txBox="1">
            <a:spLocks/>
          </p:cNvSpPr>
          <p:nvPr/>
        </p:nvSpPr>
        <p:spPr>
          <a:xfrm>
            <a:off x="838200" y="1687403"/>
            <a:ext cx="4996355" cy="2772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u="sng" dirty="0"/>
              <a:t>Benefits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Simple optimization strategy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Reduce number of network requests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Increase throughput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Minimize load on the broker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Preserves ordering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AF26E6-E0AB-B2D7-3FF4-214CA91B5DA4}"/>
              </a:ext>
            </a:extLst>
          </p:cNvPr>
          <p:cNvSpPr txBox="1">
            <a:spLocks/>
          </p:cNvSpPr>
          <p:nvPr/>
        </p:nvSpPr>
        <p:spPr>
          <a:xfrm>
            <a:off x="5834555" y="1626547"/>
            <a:ext cx="4996355" cy="295561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u="sng" dirty="0"/>
              <a:t>Drawbacks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Only works within a single poll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Not durable across application restarts or crashes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Requires carefully constructed data (compaction, fact topic, no side effects, sensible keys)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Tombstone edge cases, they must be ignored if they aren’t the last update</a:t>
            </a:r>
          </a:p>
        </p:txBody>
      </p:sp>
    </p:spTree>
    <p:extLst>
      <p:ext uri="{BB962C8B-B14F-4D97-AF65-F5344CB8AC3E}">
        <p14:creationId xmlns:p14="http://schemas.microsoft.com/office/powerpoint/2010/main" val="36113595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6C7E8-F243-C0AD-D37F-FD4713AB7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Deduplication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B648E-22B7-E31E-161B-78FA9A7F5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When and how can I use it?</a:t>
            </a:r>
          </a:p>
          <a:p>
            <a:pPr marL="0" indent="0">
              <a:buNone/>
            </a:pPr>
            <a:r>
              <a:rPr lang="en-US" sz="1800" u="sng" dirty="0"/>
              <a:t>When?</a:t>
            </a:r>
          </a:p>
          <a:p>
            <a:pPr>
              <a:buFontTx/>
              <a:buChar char="-"/>
            </a:pPr>
            <a:r>
              <a:rPr lang="en-US" sz="1800" dirty="0"/>
              <a:t>Only when reading from fact topics</a:t>
            </a:r>
          </a:p>
          <a:p>
            <a:pPr>
              <a:buFontTx/>
              <a:buChar char="-"/>
            </a:pPr>
            <a:r>
              <a:rPr lang="en-US" sz="1800" dirty="0"/>
              <a:t>Ideally when reading from log compacted topics</a:t>
            </a:r>
          </a:p>
          <a:p>
            <a:pPr>
              <a:buFontTx/>
              <a:buChar char="-"/>
            </a:pPr>
            <a:r>
              <a:rPr lang="en-US" sz="1800" dirty="0"/>
              <a:t>Referentially transparent processing</a:t>
            </a:r>
          </a:p>
          <a:p>
            <a:pPr>
              <a:buFontTx/>
              <a:buChar char="-"/>
            </a:pPr>
            <a:r>
              <a:rPr lang="en-US" sz="1800" dirty="0"/>
              <a:t>Processing incurs heavy cost (network calls, DB queries, </a:t>
            </a:r>
            <a:r>
              <a:rPr lang="en-US" sz="1800" dirty="0" err="1"/>
              <a:t>etc</a:t>
            </a:r>
            <a:r>
              <a:rPr lang="en-US" sz="1800" dirty="0"/>
              <a:t>…)</a:t>
            </a:r>
          </a:p>
          <a:p>
            <a:pPr>
              <a:buFontTx/>
              <a:buChar char="-"/>
            </a:pPr>
            <a:r>
              <a:rPr lang="en-US" sz="1800" dirty="0"/>
              <a:t>Downstream systems aren’t idempotent</a:t>
            </a:r>
          </a:p>
          <a:p>
            <a:pPr marL="0" indent="0">
              <a:buNone/>
            </a:pPr>
            <a:r>
              <a:rPr lang="en-US" sz="1800" u="sng" dirty="0"/>
              <a:t>How?</a:t>
            </a:r>
          </a:p>
          <a:p>
            <a:pPr>
              <a:buFontTx/>
              <a:buChar char="-"/>
            </a:pPr>
            <a:r>
              <a:rPr lang="en-US" sz="1800" dirty="0"/>
              <a:t>Group by the last event for each key</a:t>
            </a:r>
          </a:p>
          <a:p>
            <a:pPr>
              <a:buFontTx/>
              <a:buChar char="-"/>
            </a:pPr>
            <a:r>
              <a:rPr lang="en-US" sz="1800" dirty="0"/>
              <a:t>Linked hash map for a more performant mutable option</a:t>
            </a:r>
          </a:p>
        </p:txBody>
      </p:sp>
      <p:pic>
        <p:nvPicPr>
          <p:cNvPr id="7" name="Picture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C32506B9-5F4B-E410-742A-ECEEE3EEE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928932"/>
            <a:ext cx="5340787" cy="3248032"/>
          </a:xfrm>
          <a:prstGeom prst="rect">
            <a:avLst/>
          </a:prstGeom>
        </p:spPr>
      </p:pic>
      <p:pic>
        <p:nvPicPr>
          <p:cNvPr id="9" name="Picture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F03DAD9-375B-E8B8-BE2C-E356CD515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349543"/>
            <a:ext cx="5340787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45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3258A-2C2F-6FD7-7F25-6533BDFD4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Fresh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1EFE5-02FE-20E2-61A6-837EBBA4E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Like deduplication, but based on something in the value instead of the key</a:t>
            </a:r>
          </a:p>
          <a:p>
            <a:r>
              <a:rPr lang="en-US" dirty="0"/>
              <a:t>Ignore messages where the field(s) inside the value that you care about aren’t changed</a:t>
            </a:r>
          </a:p>
          <a:p>
            <a:r>
              <a:rPr lang="en-US" dirty="0"/>
              <a:t>Can be done in memory inside a single batch, but is typically done across multiple polls and partitions via state management</a:t>
            </a:r>
          </a:p>
        </p:txBody>
      </p:sp>
    </p:spTree>
    <p:extLst>
      <p:ext uri="{BB962C8B-B14F-4D97-AF65-F5344CB8AC3E}">
        <p14:creationId xmlns:p14="http://schemas.microsoft.com/office/powerpoint/2010/main" val="13460404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E4263-D947-8FE8-571C-AFC0A0955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Fresh Filtering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5F64D34-2B9C-966F-B40B-CD631940EDC4}"/>
              </a:ext>
            </a:extLst>
          </p:cNvPr>
          <p:cNvSpPr txBox="1">
            <a:spLocks/>
          </p:cNvSpPr>
          <p:nvPr/>
        </p:nvSpPr>
        <p:spPr>
          <a:xfrm>
            <a:off x="838200" y="1687403"/>
            <a:ext cx="4996355" cy="2772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u="sng" dirty="0"/>
              <a:t>Benefits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Correctness across restarts or crashes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Works across polls, instances, and partitions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Easy to implement a retention policy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EB8CB9A-67D9-322B-2C52-AD37BCC2B16C}"/>
              </a:ext>
            </a:extLst>
          </p:cNvPr>
          <p:cNvSpPr txBox="1">
            <a:spLocks/>
          </p:cNvSpPr>
          <p:nvPr/>
        </p:nvSpPr>
        <p:spPr>
          <a:xfrm>
            <a:off x="5834555" y="1687403"/>
            <a:ext cx="4996355" cy="2772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u="sng" dirty="0"/>
              <a:t>Drawbacks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Requires some kind of durable state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Latency and throughput cost for state lookup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Storage overhead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Ordering matters and must be accounted for</a:t>
            </a:r>
          </a:p>
        </p:txBody>
      </p:sp>
    </p:spTree>
    <p:extLst>
      <p:ext uri="{BB962C8B-B14F-4D97-AF65-F5344CB8AC3E}">
        <p14:creationId xmlns:p14="http://schemas.microsoft.com/office/powerpoint/2010/main" val="12780462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BD311-B064-0634-FB70-101BB1885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Fresh Filtering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E4090BB-3B48-0A48-FD3F-40F02DC36D29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When and how can I use it?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u="sng" dirty="0"/>
              <a:t>When?</a:t>
            </a:r>
          </a:p>
          <a:p>
            <a:pPr>
              <a:buFontTx/>
              <a:buChar char="-"/>
            </a:pPr>
            <a:r>
              <a:rPr lang="en-US" sz="1800" dirty="0"/>
              <a:t>Frequent updates to fields you don’t care about or infrequent updates to fields you do</a:t>
            </a:r>
          </a:p>
          <a:p>
            <a:pPr>
              <a:buFontTx/>
              <a:buChar char="-"/>
            </a:pPr>
            <a:r>
              <a:rPr lang="en-US" sz="1800" dirty="0"/>
              <a:t>You are the source of truth for the data, or want to guarantee correctness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u="sng" dirty="0"/>
              <a:t>How?</a:t>
            </a:r>
          </a:p>
          <a:p>
            <a:pPr>
              <a:buFontTx/>
              <a:buChar char="-"/>
            </a:pPr>
            <a:r>
              <a:rPr lang="en-US" sz="1800" dirty="0"/>
              <a:t>Topic filtering (loader), a service with a consumer/producer pair that only publishes the data you care about to an internal topic</a:t>
            </a:r>
          </a:p>
          <a:p>
            <a:pPr>
              <a:buFontTx/>
              <a:buChar char="-"/>
            </a:pPr>
            <a:r>
              <a:rPr lang="en-US" sz="1800" dirty="0"/>
              <a:t>Durable DB or cache like Postgres, MongoDB, or Redis. Only </a:t>
            </a:r>
            <a:r>
              <a:rPr lang="en-US" sz="1800" dirty="0" err="1"/>
              <a:t>upsert</a:t>
            </a:r>
            <a:r>
              <a:rPr lang="en-US" sz="1800" dirty="0"/>
              <a:t> when incoming data you care about has changed</a:t>
            </a:r>
          </a:p>
          <a:p>
            <a:pPr>
              <a:buFontTx/>
              <a:buChar char="-"/>
            </a:pPr>
            <a:r>
              <a:rPr lang="en-US" sz="1800" dirty="0"/>
              <a:t>Embedded DB like </a:t>
            </a:r>
            <a:r>
              <a:rPr lang="en-US" sz="1800" dirty="0" err="1"/>
              <a:t>RocksDB</a:t>
            </a:r>
            <a:r>
              <a:rPr lang="en-US" sz="1800" dirty="0"/>
              <a:t> (via Kafka streams or otherwise)</a:t>
            </a:r>
          </a:p>
          <a:p>
            <a:pPr>
              <a:buFontTx/>
              <a:buChar char="-"/>
            </a:pPr>
            <a:r>
              <a:rPr lang="en-US" sz="1800" dirty="0"/>
              <a:t>In memory with hash maps or other 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2152222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4E2E9-ACFA-C9E9-3CD6-FAF1096E3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8D74D-B1BA-E8E4-819A-736DA2532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Consume all the messages on the entire topic faster than anything can produce to it</a:t>
            </a:r>
          </a:p>
          <a:p>
            <a:r>
              <a:rPr lang="en-US" dirty="0"/>
              <a:t>Result is guaranteed 0 lag</a:t>
            </a:r>
          </a:p>
          <a:p>
            <a:r>
              <a:rPr lang="en-US" dirty="0"/>
              <a:t>Kafka as a persistent store</a:t>
            </a:r>
          </a:p>
          <a:p>
            <a:pPr lvl="1"/>
            <a:r>
              <a:rPr lang="en-US" dirty="0"/>
              <a:t>Requires compaction or no retention</a:t>
            </a:r>
          </a:p>
          <a:p>
            <a:r>
              <a:rPr lang="en-US" dirty="0"/>
              <a:t>Send messages into state management</a:t>
            </a:r>
          </a:p>
          <a:p>
            <a:pPr lvl="1"/>
            <a:r>
              <a:rPr lang="en-US" dirty="0"/>
              <a:t>External DB or cache (often too slow)</a:t>
            </a:r>
          </a:p>
          <a:p>
            <a:pPr lvl="1"/>
            <a:r>
              <a:rPr lang="en-US" dirty="0"/>
              <a:t>Embedded DB</a:t>
            </a:r>
          </a:p>
          <a:p>
            <a:pPr lvl="1"/>
            <a:r>
              <a:rPr lang="en-US" dirty="0"/>
              <a:t>In memory</a:t>
            </a:r>
          </a:p>
        </p:txBody>
      </p:sp>
    </p:spTree>
    <p:extLst>
      <p:ext uri="{BB962C8B-B14F-4D97-AF65-F5344CB8AC3E}">
        <p14:creationId xmlns:p14="http://schemas.microsoft.com/office/powerpoint/2010/main" val="5609544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3951-7BA2-6DDA-8AF5-800A1DBFB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Draining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CE860A7-5F5A-D260-263D-650508749162}"/>
              </a:ext>
            </a:extLst>
          </p:cNvPr>
          <p:cNvSpPr txBox="1">
            <a:spLocks/>
          </p:cNvSpPr>
          <p:nvPr/>
        </p:nvSpPr>
        <p:spPr>
          <a:xfrm>
            <a:off x="838200" y="1687403"/>
            <a:ext cx="4996355" cy="2772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u="sng" dirty="0"/>
              <a:t>Benefits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Low latency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Plays nice with parallelism for high throughput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Lightweight and cheap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Resolves backpressure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A88E4A3-811D-4503-0410-35488A52DF66}"/>
              </a:ext>
            </a:extLst>
          </p:cNvPr>
          <p:cNvSpPr txBox="1">
            <a:spLocks/>
          </p:cNvSpPr>
          <p:nvPr/>
        </p:nvSpPr>
        <p:spPr>
          <a:xfrm>
            <a:off x="5834555" y="1687403"/>
            <a:ext cx="4996355" cy="2772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u="sng" dirty="0"/>
              <a:t>Drawbacks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Requires state management and rebuilding on startup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Must be careful about always sending related events to the same partition / instance to maintain ordering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486755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F0B9F-00CD-C282-B2E1-963D9EC63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Draining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1D0C88C-8313-ED03-A1B6-7528FA1EC4D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When and how can I use it?</a:t>
            </a:r>
            <a:br>
              <a:rPr lang="en-US" dirty="0"/>
            </a:br>
            <a:r>
              <a:rPr lang="en-US" sz="1800" u="sng" dirty="0"/>
              <a:t>When?</a:t>
            </a:r>
          </a:p>
          <a:p>
            <a:pPr>
              <a:buFontTx/>
              <a:buChar char="-"/>
            </a:pPr>
            <a:r>
              <a:rPr lang="en-US" sz="1800" dirty="0"/>
              <a:t>Low latency required</a:t>
            </a:r>
          </a:p>
          <a:p>
            <a:pPr>
              <a:buFontTx/>
              <a:buChar char="-"/>
            </a:pPr>
            <a:r>
              <a:rPr lang="en-US" sz="1800" dirty="0"/>
              <a:t>Reading from compacted fact topics makes it a lot easier</a:t>
            </a:r>
          </a:p>
          <a:p>
            <a:pPr>
              <a:buFontTx/>
              <a:buChar char="-"/>
            </a:pPr>
            <a:r>
              <a:rPr lang="en-US" sz="1800" dirty="0"/>
              <a:t>The application is not the source of truth, eventually consistent data is okay</a:t>
            </a:r>
          </a:p>
          <a:p>
            <a:pPr>
              <a:buFontTx/>
              <a:buChar char="-"/>
            </a:pPr>
            <a:r>
              <a:rPr lang="en-US" sz="1800" dirty="0"/>
              <a:t>Data set is not too large (big data)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u="sng" dirty="0"/>
              <a:t>How?</a:t>
            </a:r>
          </a:p>
          <a:p>
            <a:pPr>
              <a:buFontTx/>
              <a:buChar char="-"/>
            </a:pPr>
            <a:r>
              <a:rPr lang="en-US" sz="1800" dirty="0"/>
              <a:t>Class that implements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Partitioner</a:t>
            </a:r>
            <a:r>
              <a:rPr lang="en-US" sz="1800" dirty="0">
                <a:cs typeface="Consolas" panose="020B0609020204030204" pitchFamily="49" charset="0"/>
              </a:rPr>
              <a:t> and overrides the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partition()</a:t>
            </a:r>
            <a:r>
              <a:rPr lang="en-US" sz="1800" dirty="0">
                <a:cs typeface="Consolas" panose="020B0609020204030204" pitchFamily="49" charset="0"/>
              </a:rPr>
              <a:t> method</a:t>
            </a:r>
          </a:p>
          <a:p>
            <a:pPr>
              <a:buFontTx/>
              <a:buChar char="-"/>
            </a:pP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ProducerConfig.PARTITIONER_CLASS_CONFIG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YourCustomPartitioner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0" name="Picture 9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17D9AE30-E216-A52E-38A0-E022CEB05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410281"/>
            <a:ext cx="5257800" cy="318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8145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6CC7F-A95D-33BA-86CA-5AB220875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031CC-D1F3-33C7-0B19-E8CCAA50B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External caching</a:t>
            </a:r>
          </a:p>
          <a:p>
            <a:pPr lvl="1"/>
            <a:r>
              <a:rPr lang="en-US" dirty="0"/>
              <a:t>For </a:t>
            </a:r>
            <a:r>
              <a:rPr lang="en-US" dirty="0" err="1"/>
              <a:t>kafka</a:t>
            </a:r>
            <a:r>
              <a:rPr lang="en-US" dirty="0"/>
              <a:t>-backed embedded or in-memory caching see “Draining”</a:t>
            </a:r>
          </a:p>
          <a:p>
            <a:r>
              <a:rPr lang="en-US" dirty="0"/>
              <a:t>Real-time data access and state management</a:t>
            </a:r>
          </a:p>
          <a:p>
            <a:r>
              <a:rPr lang="en-US" dirty="0"/>
              <a:t>Cache prefetching</a:t>
            </a:r>
          </a:p>
          <a:p>
            <a:r>
              <a:rPr lang="en-US" dirty="0"/>
              <a:t>Data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34244662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F829F-CE97-A68D-7681-AFA7A0576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C8C63BC-8A55-23D1-D89E-46407EA959C5}"/>
              </a:ext>
            </a:extLst>
          </p:cNvPr>
          <p:cNvSpPr txBox="1">
            <a:spLocks/>
          </p:cNvSpPr>
          <p:nvPr/>
        </p:nvSpPr>
        <p:spPr>
          <a:xfrm>
            <a:off x="838200" y="1687403"/>
            <a:ext cx="4996355" cy="2772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u="sng" dirty="0"/>
              <a:t>Benefits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Low latency external read access across systems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High QPS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Easy state management with idempotency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Persistent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Independent scaling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70462B8-980A-2186-22D0-361CEC5EC8BD}"/>
              </a:ext>
            </a:extLst>
          </p:cNvPr>
          <p:cNvSpPr txBox="1">
            <a:spLocks/>
          </p:cNvSpPr>
          <p:nvPr/>
        </p:nvSpPr>
        <p:spPr>
          <a:xfrm>
            <a:off x="5834555" y="1687403"/>
            <a:ext cx="4996355" cy="2772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u="sng" dirty="0"/>
              <a:t>Drawbacks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Memory cost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Eventually consistent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More complexity</a:t>
            </a:r>
          </a:p>
        </p:txBody>
      </p:sp>
    </p:spTree>
    <p:extLst>
      <p:ext uri="{BB962C8B-B14F-4D97-AF65-F5344CB8AC3E}">
        <p14:creationId xmlns:p14="http://schemas.microsoft.com/office/powerpoint/2010/main" val="16906690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38A0D-27E0-E273-B800-83F80612B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A553B3-3C06-CDD4-E8E2-B51C82A0DCE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When and how can I use it?</a:t>
            </a:r>
            <a:br>
              <a:rPr lang="en-US" dirty="0"/>
            </a:br>
            <a:r>
              <a:rPr lang="en-US" sz="1800" u="sng" dirty="0"/>
              <a:t>When?</a:t>
            </a:r>
          </a:p>
          <a:p>
            <a:pPr>
              <a:buFontTx/>
              <a:buChar char="-"/>
            </a:pPr>
            <a:r>
              <a:rPr lang="en-US" sz="1800" dirty="0"/>
              <a:t>Multiple services need fast access to the same data</a:t>
            </a:r>
          </a:p>
          <a:p>
            <a:pPr>
              <a:buFontTx/>
              <a:buChar char="-"/>
            </a:pPr>
            <a:r>
              <a:rPr lang="en-US" sz="1800" dirty="0"/>
              <a:t>Specialized data structures (sorted sets, pub/sub, </a:t>
            </a:r>
            <a:r>
              <a:rPr lang="en-US" sz="1800" dirty="0" err="1"/>
              <a:t>etc</a:t>
            </a:r>
            <a:r>
              <a:rPr lang="en-US" sz="1800" dirty="0"/>
              <a:t>…)</a:t>
            </a:r>
          </a:p>
          <a:p>
            <a:pPr>
              <a:buFontTx/>
              <a:buChar char="-"/>
            </a:pPr>
            <a:r>
              <a:rPr lang="en-US" sz="1800" dirty="0"/>
              <a:t>Small enough state to fit in memory</a:t>
            </a:r>
          </a:p>
          <a:p>
            <a:pPr marL="0" indent="0">
              <a:buNone/>
            </a:pPr>
            <a:r>
              <a:rPr lang="en-US" sz="1800" u="sng" dirty="0"/>
              <a:t>How?</a:t>
            </a:r>
          </a:p>
          <a:p>
            <a:pPr>
              <a:buFontTx/>
              <a:buChar char="-"/>
            </a:pPr>
            <a:r>
              <a:rPr lang="en-US" sz="1800" dirty="0"/>
              <a:t>Publish the entire state of your domain instead of deltas</a:t>
            </a:r>
            <a:endParaRPr lang="en-US" sz="1800" dirty="0">
              <a:cs typeface="Consolas" panose="020B0609020204030204" pitchFamily="49" charset="0"/>
            </a:endParaRPr>
          </a:p>
        </p:txBody>
      </p:sp>
      <p:pic>
        <p:nvPicPr>
          <p:cNvPr id="8" name="Picture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7E7A420-A658-04D0-E7A3-96D98EA40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13783"/>
            <a:ext cx="5257800" cy="3030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7216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EE808-7CEA-699F-B5FC-D92A1E77A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71127-94C3-F04E-5A44-604A0C92F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Kafka guarantees order within a partition</a:t>
            </a:r>
          </a:p>
          <a:p>
            <a:pPr lvl="1"/>
            <a:r>
              <a:rPr lang="en-US" dirty="0"/>
              <a:t>Max concurrency = # of partitions</a:t>
            </a:r>
          </a:p>
          <a:p>
            <a:pPr lvl="1"/>
            <a:r>
              <a:rPr lang="en-US" dirty="0"/>
              <a:t>Not thread safe</a:t>
            </a:r>
          </a:p>
          <a:p>
            <a:r>
              <a:rPr lang="en-US" dirty="0"/>
              <a:t>Frameworks to handle async I/O calls, data transformations, and backpressure (LMAX Disruptor, Kotlin Flows)</a:t>
            </a:r>
          </a:p>
          <a:p>
            <a:pPr lvl="1"/>
            <a:r>
              <a:rPr lang="en-US" dirty="0"/>
              <a:t>Simple parallelism (thread pools) breaks ordering</a:t>
            </a:r>
          </a:p>
          <a:p>
            <a:pPr lvl="1"/>
            <a:r>
              <a:rPr lang="en-US" dirty="0"/>
              <a:t>Allows for custom configurations after single threaded Kafka polling is run (e.g. “step A must finish before step B, but all other steps can be run in parallel”)</a:t>
            </a:r>
          </a:p>
        </p:txBody>
      </p:sp>
    </p:spTree>
    <p:extLst>
      <p:ext uri="{BB962C8B-B14F-4D97-AF65-F5344CB8AC3E}">
        <p14:creationId xmlns:p14="http://schemas.microsoft.com/office/powerpoint/2010/main" val="1378026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F5F1F-4D47-2DFC-6CA7-EEDBFBABA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Concurrency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7C392E5-CD93-5692-43DF-18FC0868511B}"/>
              </a:ext>
            </a:extLst>
          </p:cNvPr>
          <p:cNvSpPr txBox="1">
            <a:spLocks/>
          </p:cNvSpPr>
          <p:nvPr/>
        </p:nvSpPr>
        <p:spPr>
          <a:xfrm>
            <a:off x="838200" y="1687403"/>
            <a:ext cx="4996355" cy="2772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u="sng" dirty="0"/>
              <a:t>Benefits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High throughput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Low latency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Mechanical sympathy and resource utilization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Clear, composable pipelines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Backpressure awareness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514460D-3733-FE9A-C44A-16BA255909AC}"/>
              </a:ext>
            </a:extLst>
          </p:cNvPr>
          <p:cNvSpPr txBox="1">
            <a:spLocks/>
          </p:cNvSpPr>
          <p:nvPr/>
        </p:nvSpPr>
        <p:spPr>
          <a:xfrm>
            <a:off x="5834555" y="1687403"/>
            <a:ext cx="4996355" cy="2772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u="sng" dirty="0"/>
              <a:t>Drawbacks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More complexity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Operational tuning and configuration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Extra work to enable observability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376623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7CD07-785A-8BF6-2C3E-8731B6A7C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Concurrency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153DAD1-5462-411F-AE2D-15F182F365C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When and how can I use it?</a:t>
            </a:r>
            <a:br>
              <a:rPr lang="en-US" dirty="0"/>
            </a:br>
            <a:r>
              <a:rPr lang="en-US" sz="1800" u="sng" dirty="0"/>
              <a:t>When?</a:t>
            </a:r>
          </a:p>
          <a:p>
            <a:pPr>
              <a:buFontTx/>
              <a:buChar char="-"/>
            </a:pPr>
            <a:r>
              <a:rPr lang="en-US" sz="1800" dirty="0"/>
              <a:t>Heavy async I/O operations (HTTP API calls, DB queries, </a:t>
            </a:r>
            <a:r>
              <a:rPr lang="en-US" sz="1800" dirty="0" err="1"/>
              <a:t>etc</a:t>
            </a:r>
            <a:r>
              <a:rPr lang="en-US" sz="1800" dirty="0"/>
              <a:t>…)</a:t>
            </a:r>
          </a:p>
          <a:p>
            <a:pPr>
              <a:buFontTx/>
              <a:buChar char="-"/>
            </a:pPr>
            <a:r>
              <a:rPr lang="en-US" sz="1800" dirty="0"/>
              <a:t>Very strict latency SLAs</a:t>
            </a:r>
          </a:p>
          <a:p>
            <a:pPr>
              <a:buFontTx/>
              <a:buChar char="-"/>
            </a:pPr>
            <a:r>
              <a:rPr lang="en-US" sz="1800" dirty="0"/>
              <a:t>High volume and frequency of events</a:t>
            </a:r>
          </a:p>
          <a:p>
            <a:pPr marL="0" indent="0">
              <a:buNone/>
            </a:pPr>
            <a:r>
              <a:rPr lang="en-US" sz="1800" u="sng" dirty="0"/>
              <a:t>How?</a:t>
            </a:r>
          </a:p>
          <a:p>
            <a:pPr>
              <a:buFontTx/>
              <a:buChar char="-"/>
            </a:pPr>
            <a:r>
              <a:rPr lang="en-US" sz="1800" dirty="0"/>
              <a:t>Publish the entire state of your domain instead of deltas</a:t>
            </a:r>
            <a:endParaRPr lang="en-US" sz="1800" dirty="0">
              <a:cs typeface="Consolas" panose="020B0609020204030204" pitchFamily="49" charset="0"/>
            </a:endParaRPr>
          </a:p>
        </p:txBody>
      </p:sp>
      <p:pic>
        <p:nvPicPr>
          <p:cNvPr id="6" name="Picture 5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02C437C2-25C8-8489-CAD0-FFEEC4100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90688"/>
            <a:ext cx="5257800" cy="446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96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23B16-E7C3-FD5D-13E1-0EAB30FCD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D9F73-A8AE-F051-DEDB-ECC7CDC18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Reduces the size of messages</a:t>
            </a:r>
          </a:p>
          <a:p>
            <a:r>
              <a:rPr lang="en-US" dirty="0"/>
              <a:t>Producer’s responsibility to compression batches per partition</a:t>
            </a:r>
          </a:p>
          <a:p>
            <a:r>
              <a:rPr lang="en-US" dirty="0"/>
              <a:t>Broker periodically runs decompression to do things like compaction and validation</a:t>
            </a:r>
          </a:p>
          <a:p>
            <a:r>
              <a:rPr lang="en-US" dirty="0"/>
              <a:t>Consumer’s responsibility to decompress messages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742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D1EF0-9EBE-3EAF-2C36-3AF78A0A1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16AC4A0-3EB5-D99F-D8F8-36B90580FD39}"/>
              </a:ext>
            </a:extLst>
          </p:cNvPr>
          <p:cNvSpPr txBox="1">
            <a:spLocks/>
          </p:cNvSpPr>
          <p:nvPr/>
        </p:nvSpPr>
        <p:spPr>
          <a:xfrm>
            <a:off x="838200" y="1687403"/>
            <a:ext cx="4996355" cy="2772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u="sng" dirty="0"/>
              <a:t>Benefits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Better disk utilization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Reduced network bandwidth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Higher throughput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Faster replication and compaction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D74A648-07C0-9A2B-81FD-0D5AB79F37CE}"/>
              </a:ext>
            </a:extLst>
          </p:cNvPr>
          <p:cNvSpPr txBox="1">
            <a:spLocks/>
          </p:cNvSpPr>
          <p:nvPr/>
        </p:nvSpPr>
        <p:spPr>
          <a:xfrm>
            <a:off x="5834555" y="1687403"/>
            <a:ext cx="4996355" cy="2772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u="sng" dirty="0"/>
              <a:t>Drawbacks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More CPU usage as broker processes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Extra work for consumers to decompress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Harder to work with encrypted data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Can add latency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Diminishing returns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853082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B0C48-6D31-8126-6ECA-B892442EF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89E9DE0-65D7-14E1-E575-DF29EDD2AD0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When and how can I use it?</a:t>
            </a:r>
            <a:br>
              <a:rPr lang="en-US" dirty="0"/>
            </a:br>
            <a:r>
              <a:rPr lang="en-US" sz="1800" u="sng" dirty="0"/>
              <a:t>When?</a:t>
            </a:r>
          </a:p>
          <a:p>
            <a:pPr>
              <a:buFontTx/>
              <a:buChar char="-"/>
            </a:pPr>
            <a:r>
              <a:rPr lang="en-US" sz="1800" dirty="0"/>
              <a:t>Most of the time, exception is extremely low latency systems with small messages</a:t>
            </a:r>
          </a:p>
          <a:p>
            <a:pPr>
              <a:buFontTx/>
              <a:buChar char="-"/>
            </a:pPr>
            <a:r>
              <a:rPr lang="en-US" sz="1800" dirty="0"/>
              <a:t>Large messages</a:t>
            </a:r>
          </a:p>
          <a:p>
            <a:pPr>
              <a:buFontTx/>
              <a:buChar char="-"/>
            </a:pPr>
            <a:r>
              <a:rPr lang="en-US" sz="1800" dirty="0"/>
              <a:t>High volume and frequency of events</a:t>
            </a:r>
          </a:p>
          <a:p>
            <a:pPr>
              <a:buFontTx/>
              <a:buChar char="-"/>
            </a:pPr>
            <a:r>
              <a:rPr lang="en-US" sz="1800" dirty="0"/>
              <a:t>Large batch sizes</a:t>
            </a:r>
          </a:p>
          <a:p>
            <a:pPr marL="0" indent="0">
              <a:buNone/>
            </a:pPr>
            <a:r>
              <a:rPr lang="en-US" sz="1800" u="sng" dirty="0"/>
              <a:t>How?</a:t>
            </a:r>
          </a:p>
          <a:p>
            <a:pPr>
              <a:buFontTx/>
              <a:buChar char="-"/>
            </a:pP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compression.type</a:t>
            </a:r>
            <a:r>
              <a:rPr lang="en-US" sz="1800" dirty="0">
                <a:cs typeface="Consolas" panose="020B0609020204030204" pitchFamily="49" charset="0"/>
              </a:rPr>
              <a:t> config value</a:t>
            </a:r>
          </a:p>
          <a:p>
            <a:pPr lvl="1">
              <a:buFontTx/>
              <a:buChar char="-"/>
            </a:pPr>
            <a:r>
              <a:rPr lang="en-US" sz="1400" dirty="0">
                <a:cs typeface="Consolas" panose="020B0609020204030204" pitchFamily="49" charset="0"/>
              </a:rPr>
              <a:t>Typically use lz4, tweak if needed</a:t>
            </a:r>
          </a:p>
          <a:p>
            <a:pPr lvl="1">
              <a:buFontTx/>
              <a:buChar char="-"/>
            </a:pPr>
            <a:r>
              <a:rPr lang="en-US" sz="1400" dirty="0">
                <a:cs typeface="Consolas" panose="020B0609020204030204" pitchFamily="49" charset="0"/>
              </a:rPr>
              <a:t>Almost never use </a:t>
            </a:r>
            <a:r>
              <a:rPr lang="en-US" sz="1400" dirty="0" err="1">
                <a:cs typeface="Consolas" panose="020B0609020204030204" pitchFamily="49" charset="0"/>
              </a:rPr>
              <a:t>gzip</a:t>
            </a:r>
            <a:endParaRPr lang="en-US" sz="1400" dirty="0"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2358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3A99-08A4-8BAA-B42C-EEA54CD85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EEE99-D072-121A-BC48-FAC4EE28B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514350" indent="-514350">
              <a:buAutoNum type="arabicPeriod"/>
            </a:pPr>
            <a:r>
              <a:rPr lang="en-US" dirty="0"/>
              <a:t>Batching and Timeouts</a:t>
            </a:r>
          </a:p>
          <a:p>
            <a:pPr marL="514350" indent="-514350">
              <a:buAutoNum type="arabicPeriod"/>
            </a:pPr>
            <a:r>
              <a:rPr lang="en-US" dirty="0"/>
              <a:t>Deduplication</a:t>
            </a:r>
          </a:p>
          <a:p>
            <a:pPr marL="514350" indent="-514350">
              <a:buAutoNum type="arabicPeriod"/>
            </a:pPr>
            <a:r>
              <a:rPr lang="en-US" dirty="0"/>
              <a:t>Fresh Filtering</a:t>
            </a:r>
          </a:p>
          <a:p>
            <a:pPr marL="514350" indent="-514350">
              <a:buAutoNum type="arabicPeriod"/>
            </a:pPr>
            <a:r>
              <a:rPr lang="en-US" dirty="0"/>
              <a:t>Hashing</a:t>
            </a:r>
          </a:p>
          <a:p>
            <a:pPr marL="971550" lvl="1" indent="-514350">
              <a:buAutoNum type="arabicPeriod"/>
            </a:pPr>
            <a:r>
              <a:rPr lang="en-US" dirty="0">
                <a:hlinkClick r:id="rId2"/>
              </a:rPr>
              <a:t>https://www.confluent.io/learn/kafka-partition-key/</a:t>
            </a:r>
            <a:r>
              <a:rPr lang="en-US" dirty="0"/>
              <a:t> </a:t>
            </a:r>
          </a:p>
          <a:p>
            <a:pPr marL="971550" lvl="1" indent="-514350">
              <a:buAutoNum type="arabicPeriod"/>
            </a:pPr>
            <a:r>
              <a:rPr lang="en-US" dirty="0">
                <a:hlinkClick r:id="rId3"/>
              </a:rPr>
              <a:t>https://www.naleid.com/2021/05/02/kafka-topic-partitioning-replication.html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Draining</a:t>
            </a:r>
          </a:p>
          <a:p>
            <a:pPr marL="971550" lvl="1" indent="-514350">
              <a:buAutoNum type="arabicPeriod"/>
            </a:pPr>
            <a:r>
              <a:rPr lang="en-US" dirty="0">
                <a:hlinkClick r:id="rId4"/>
              </a:rPr>
              <a:t>https://www.confluent.io/blog/okay-store-data-apache-kafka/</a:t>
            </a:r>
            <a:r>
              <a:rPr lang="en-US" dirty="0"/>
              <a:t> </a:t>
            </a:r>
          </a:p>
          <a:p>
            <a:pPr marL="514350" indent="-514350">
              <a:buAutoNum type="arabicPeriod"/>
            </a:pPr>
            <a:r>
              <a:rPr lang="en-US" dirty="0"/>
              <a:t>Fact Events</a:t>
            </a:r>
          </a:p>
          <a:p>
            <a:pPr marL="971550" lvl="1" indent="-514350">
              <a:buAutoNum type="arabicPeriod"/>
            </a:pPr>
            <a:r>
              <a:rPr lang="en-US" dirty="0">
                <a:hlinkClick r:id="rId5"/>
              </a:rPr>
              <a:t>https://developer.confluent.io/courses/event-design/fact-vs-delta-events/</a:t>
            </a:r>
            <a:r>
              <a:rPr lang="en-US" dirty="0"/>
              <a:t> </a:t>
            </a:r>
          </a:p>
          <a:p>
            <a:pPr marL="514350" indent="-514350">
              <a:buAutoNum type="arabicPeriod"/>
            </a:pPr>
            <a:r>
              <a:rPr lang="en-US" dirty="0"/>
              <a:t>Caching</a:t>
            </a:r>
          </a:p>
          <a:p>
            <a:pPr marL="971550" lvl="1" indent="-514350">
              <a:buAutoNum type="arabicPeriod"/>
            </a:pPr>
            <a:r>
              <a:rPr lang="en-US" dirty="0">
                <a:hlinkClick r:id="rId6"/>
              </a:rPr>
              <a:t>https://redis.io/compare/redis-enterprise-and-kafka/</a:t>
            </a:r>
            <a:r>
              <a:rPr lang="en-US" dirty="0"/>
              <a:t> </a:t>
            </a:r>
          </a:p>
          <a:p>
            <a:pPr marL="514350" indent="-514350">
              <a:buAutoNum type="arabicPeriod"/>
            </a:pPr>
            <a:r>
              <a:rPr lang="en-US" dirty="0"/>
              <a:t>Concurrency</a:t>
            </a:r>
          </a:p>
          <a:p>
            <a:pPr marL="971550" lvl="1" indent="-514350">
              <a:buAutoNum type="arabicPeriod"/>
            </a:pPr>
            <a:r>
              <a:rPr lang="en-US" dirty="0">
                <a:hlinkClick r:id="rId7"/>
              </a:rPr>
              <a:t>https://github.com/bengangllipson/pulse</a:t>
            </a:r>
            <a:endParaRPr lang="en-US" dirty="0"/>
          </a:p>
          <a:p>
            <a:pPr marL="971550" lvl="1" indent="-514350">
              <a:buAutoNum type="arabicPeriod"/>
            </a:pPr>
            <a:r>
              <a:rPr lang="en-US" dirty="0">
                <a:hlinkClick r:id="rId8"/>
              </a:rPr>
              <a:t>https://medium.com/@chetanshingare2991/kotlin-flows-a-complete-guide-to-asynchronous-streams-in-android-e790a6a9e116</a:t>
            </a:r>
            <a:endParaRPr lang="en-US" dirty="0"/>
          </a:p>
          <a:p>
            <a:pPr marL="971550" lvl="1" indent="-514350">
              <a:buAutoNum type="arabicPeriod"/>
            </a:pPr>
            <a:r>
              <a:rPr lang="en-US" dirty="0">
                <a:hlinkClick r:id="rId9"/>
              </a:rPr>
              <a:t>https://lmax-exchange.github.io/disruptor/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Compression</a:t>
            </a:r>
          </a:p>
          <a:p>
            <a:pPr marL="971550" lvl="1" indent="-514350">
              <a:buAutoNum type="arabicPeriod"/>
            </a:pPr>
            <a:r>
              <a:rPr lang="en-US" dirty="0">
                <a:hlinkClick r:id="rId10"/>
              </a:rPr>
              <a:t>https://www.confluent.io/blog/apache-kafka-message-compression/</a:t>
            </a:r>
            <a:r>
              <a:rPr lang="en-US" dirty="0"/>
              <a:t> </a:t>
            </a:r>
          </a:p>
          <a:p>
            <a:pPr marL="971550" lvl="1" indent="-514350">
              <a:buAutoNum type="arabicPeriod"/>
            </a:pPr>
            <a:r>
              <a:rPr lang="en-US" dirty="0">
                <a:hlinkClick r:id="rId3"/>
              </a:rPr>
              <a:t>https://www.naleid.com/2021/05/02/kafka-topic-partitioning-replication.html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Schema Validation</a:t>
            </a:r>
          </a:p>
          <a:p>
            <a:pPr marL="971550" lvl="1" indent="-514350">
              <a:buAutoNum type="arabicPeriod"/>
            </a:pPr>
            <a:r>
              <a:rPr lang="en-US" dirty="0">
                <a:hlinkClick r:id="rId11"/>
              </a:rPr>
              <a:t>https://docs.confluent.io/platform/current/schema-registry/schema-validation.html#enabling-sv-on-a-topic-from-the-confluent-cli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Provenance</a:t>
            </a:r>
          </a:p>
          <a:p>
            <a:pPr marL="971550" lvl="1" indent="-514350">
              <a:buAutoNum type="arabicPeriod"/>
            </a:pPr>
            <a:r>
              <a:rPr lang="en-US" dirty="0">
                <a:hlinkClick r:id="rId12"/>
              </a:rPr>
              <a:t>https://www.ibm.com/think/topics/data-provenance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Compaction </a:t>
            </a:r>
          </a:p>
          <a:p>
            <a:pPr marL="971550" lvl="1" indent="-514350">
              <a:buAutoNum type="arabicPeriod"/>
            </a:pPr>
            <a:r>
              <a:rPr lang="en-US" dirty="0">
                <a:hlinkClick r:id="rId13"/>
              </a:rPr>
              <a:t>https://www.naleid.com/2023/07/30/understanding-kafka-compaction.html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925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4083</TotalTime>
  <Words>1938</Words>
  <Application>Microsoft Macintosh PowerPoint</Application>
  <PresentationFormat>Widescreen</PresentationFormat>
  <Paragraphs>334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Consolas</vt:lpstr>
      <vt:lpstr>Office Theme</vt:lpstr>
      <vt:lpstr>A Toolkit for High Performance Event Driven Systems</vt:lpstr>
      <vt:lpstr>Table of Contents</vt:lpstr>
      <vt:lpstr>Schema Validation</vt:lpstr>
      <vt:lpstr>Schema Validation</vt:lpstr>
      <vt:lpstr>Schema Validation</vt:lpstr>
      <vt:lpstr>Provenance</vt:lpstr>
      <vt:lpstr>Provenance</vt:lpstr>
      <vt:lpstr>Fact Events</vt:lpstr>
      <vt:lpstr>Fact Events</vt:lpstr>
      <vt:lpstr>Hashing</vt:lpstr>
      <vt:lpstr>Hashing</vt:lpstr>
      <vt:lpstr>Compaction</vt:lpstr>
      <vt:lpstr>Compaction</vt:lpstr>
      <vt:lpstr>Compaction</vt:lpstr>
      <vt:lpstr>Batching and Timeouts</vt:lpstr>
      <vt:lpstr>Batching and Timeouts</vt:lpstr>
      <vt:lpstr>Batching and Timeouts</vt:lpstr>
      <vt:lpstr>Deduplication</vt:lpstr>
      <vt:lpstr>Deduplication</vt:lpstr>
      <vt:lpstr>Deduplication</vt:lpstr>
      <vt:lpstr>Fresh Filtering</vt:lpstr>
      <vt:lpstr>Fresh Filtering</vt:lpstr>
      <vt:lpstr>Fresh Filtering</vt:lpstr>
      <vt:lpstr>Draining</vt:lpstr>
      <vt:lpstr>Draining</vt:lpstr>
      <vt:lpstr>Draining</vt:lpstr>
      <vt:lpstr>Caching</vt:lpstr>
      <vt:lpstr>Caching</vt:lpstr>
      <vt:lpstr>Caching</vt:lpstr>
      <vt:lpstr>Concurrency</vt:lpstr>
      <vt:lpstr>Concurrency</vt:lpstr>
      <vt:lpstr>Concurrency</vt:lpstr>
      <vt:lpstr>Compression</vt:lpstr>
      <vt:lpstr>Compression</vt:lpstr>
      <vt:lpstr>Compression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Ben.Lipson</dc:creator>
  <cp:lastModifiedBy>Ben.Lipson</cp:lastModifiedBy>
  <cp:revision>90</cp:revision>
  <dcterms:created xsi:type="dcterms:W3CDTF">2026-03-07T20:28:09Z</dcterms:created>
  <dcterms:modified xsi:type="dcterms:W3CDTF">2026-03-10T16:31:33Z</dcterms:modified>
</cp:coreProperties>
</file>